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9cc5b93e64463c" /><Relationship Type="http://schemas.openxmlformats.org/officeDocument/2006/relationships/extended-properties" Target="/docProps/app.xml" Id="Rd9f39234cbb6469a" /><Relationship Type="http://schemas.openxmlformats.org/officeDocument/2006/relationships/officeDocument" Target="/ppt/presentation.xml" Id="R8f8e76b1d90046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713b420ccb414b"/>
  </p:sldMasterIdLst>
  <p:notesMasterIdLst>
    <p:notesMasterId xmlns:r="http://schemas.openxmlformats.org/officeDocument/2006/relationships" r:id="R8e344cbe7c284223"/>
  </p:notesMasterIdLst>
  <p:sldIdLst>
    <p:sldId xmlns:r="http://schemas.openxmlformats.org/officeDocument/2006/relationships" id="256" r:id="R30d4578b76704b82"/>
    <p:sldId xmlns:r="http://schemas.openxmlformats.org/officeDocument/2006/relationships" id="257" r:id="R030203fd8fd04e0d"/>
    <p:sldId xmlns:r="http://schemas.openxmlformats.org/officeDocument/2006/relationships" id="258" r:id="R08db66be2a7b477e"/>
    <p:sldId xmlns:r="http://schemas.openxmlformats.org/officeDocument/2006/relationships" id="259" r:id="Rf15da218c98947d2"/>
    <p:sldId xmlns:r="http://schemas.openxmlformats.org/officeDocument/2006/relationships" id="260" r:id="R6a901ae865e0418c"/>
    <p:sldId xmlns:r="http://schemas.openxmlformats.org/officeDocument/2006/relationships" id="261" r:id="R4cef51a0e64b4162"/>
    <p:sldId xmlns:r="http://schemas.openxmlformats.org/officeDocument/2006/relationships" id="262" r:id="R6157ff5042bb4c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8c13e27e064c9d" /><Relationship Type="http://schemas.openxmlformats.org/officeDocument/2006/relationships/slideMaster" Target="/ppt/slideMasters/slideMaster1.xml" Id="R14713b420ccb414b" /><Relationship Type="http://schemas.openxmlformats.org/officeDocument/2006/relationships/notesMaster" Target="/ppt/notesMasters/notesMaster1.xml" Id="R8e344cbe7c284223" /><Relationship Type="http://schemas.openxmlformats.org/officeDocument/2006/relationships/presProps" Target="/ppt/presProps.xml" Id="R452253536f744973" /><Relationship Type="http://schemas.openxmlformats.org/officeDocument/2006/relationships/tableStyles" Target="/ppt/tableStyles.xml" Id="R7b0c2e124f1f452b" /><Relationship Type="http://schemas.openxmlformats.org/officeDocument/2006/relationships/slide" Target="/ppt/slides/slide1.xml" Id="R30d4578b76704b82" /><Relationship Type="http://schemas.openxmlformats.org/officeDocument/2006/relationships/slide" Target="/ppt/slides/slide2.xml" Id="R030203fd8fd04e0d" /><Relationship Type="http://schemas.openxmlformats.org/officeDocument/2006/relationships/slide" Target="/ppt/slides/slide3.xml" Id="R08db66be2a7b477e" /><Relationship Type="http://schemas.openxmlformats.org/officeDocument/2006/relationships/slide" Target="/ppt/slides/slide4.xml" Id="Rf15da218c98947d2" /><Relationship Type="http://schemas.openxmlformats.org/officeDocument/2006/relationships/slide" Target="/ppt/slides/slide5.xml" Id="R6a901ae865e0418c" /><Relationship Type="http://schemas.openxmlformats.org/officeDocument/2006/relationships/slide" Target="/ppt/slides/slide6.xml" Id="R4cef51a0e64b4162" /><Relationship Type="http://schemas.openxmlformats.org/officeDocument/2006/relationships/slide" Target="/ppt/slides/slide7.xml" Id="R6157ff5042bb4c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81e38e28ad44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978b3b00984f6a" /><Relationship Type="http://schemas.openxmlformats.org/officeDocument/2006/relationships/notesMaster" Target="/ppt/notesMasters/notesMaster1.xml" Id="Rbb70d9d6eb3a4d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29c10bb0b0401b" /><Relationship Type="http://schemas.openxmlformats.org/officeDocument/2006/relationships/notesMaster" Target="/ppt/notesMasters/notesMaster1.xml" Id="R7492b1e0f5464d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51775035e64009" /><Relationship Type="http://schemas.openxmlformats.org/officeDocument/2006/relationships/notesMaster" Target="/ppt/notesMasters/notesMaster1.xml" Id="Rf1020750d41342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0a04e0f7944c3a" /><Relationship Type="http://schemas.openxmlformats.org/officeDocument/2006/relationships/notesMaster" Target="/ppt/notesMasters/notesMaster1.xml" Id="R4f09cd7ec1d047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80a382b1c2454e" /><Relationship Type="http://schemas.openxmlformats.org/officeDocument/2006/relationships/notesMaster" Target="/ppt/notesMasters/notesMaster1.xml" Id="Rd2db15fefc6d40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7e9d447d534470" /><Relationship Type="http://schemas.openxmlformats.org/officeDocument/2006/relationships/notesMaster" Target="/ppt/notesMasters/notesMaster1.xml" Id="R7be14b275f584c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a44b036bae428f" /><Relationship Type="http://schemas.openxmlformats.org/officeDocument/2006/relationships/notesMaster" Target="/ppt/notesMasters/notesMaster1.xml" Id="R7075047f9d8c4f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com o objetivo: demonstrar a criação de pedidos com preços validados por um catálogo independente. A conversa vai passar pela arquitetura, regras que protegem o pedido, testes e artefatos de liderança. A solução é executável localmente e os comandos estão no README.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Desafio Técnico COE Leader, §§2–4, pp. 4–7;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o PDF permite escolher as stacks, mas exige os serviços e bancos. TypeScript/NestJS organiza a orquestração e a persistência do pedido; C#/ASP.NET Core implementa o catálogo. O motivo principal para duas linguagens é demonstrar julgamento multi-stack, não uma necessidade de performance. O custo é mais toolchain e manutenção, registrado no ADR.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Desafio Técnico COE Leader, §§1–2.3, pp. 3–5; docs/adr/001-stacks-e-fronteiras.md; docs/arquitetura.md.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Demonstre a sequência e chame atenção para três garantias: o cliente não informa o preço, uma busca em lote evita uma ida ao banco por produto e pedido/item são persistidos na mesma transação. O exemplo usa o seed e a configuração padrão. O histórico é estável porque nome, preço, versão e regra aplicada ficam fotografados no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docs/PRD.md §§7–8; specs/SPEC-pedidos.md; specs/SPEC-integracao.md; docs/evidencias/setup-limpo.md.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Swagger como interface de exploração e os seis endpoints de negócio. A listagem do Catálogo mostra ativos; consulta por ID pode retornar inativos; o lote informa encontrados e ausentes. Pedidos cria, lista resumos e consulta snapshots. As rotas de saúde ajudam a separar processo vivo de dependência pronta.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contracts/catalogo.openapi.yaml; contracts/pedidos.openapi.yaml;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qualidade está ligada a comportamento observável, não a slogans. Há testes de regra e HTTP, integração com PostgreSQL real, smoke do sistema e contratos runtime. A medição de lote confirmou uma operação de leitura lógica para lotes de 1, 10 e 100 IDs. A pipeline hospedada foi executada. O projeto documenta o limite importante de uma desconexão durante COMMIT, sem prometer que o cliente consegue saber se o banco concluiu a transação.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docs/qa/README.md; docs/evidencias/catalogo-lote-explain.md; docs/evidencias/revisao-falhas-pedidos.md; .github/workflows/ci.yml.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os diferenciais pedidos na seção 2.4. O uso de IA está registrado com prompt, crítica, decisão e validação; o SAI APP 3.0 não é alegado sem evidência de uso. O guia tem duas páginas e aborda times multi-stack. A proposta dimensiona duas pessoas durante três semanas, com base e contingência separadas. Explique limites escolhidos: autenticação, pagamentos, estoque, frontend e deploy cloud não fazem parte do núcleo 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docs/uso-de-ia.md; docs/ia/revisao-validacoes-mensagens.md; docs/governanca/guia-de-code-review.md; docs/proposta/dimensionamento.md; docs/PRD.md.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a demonstração ao vivo, comece no README, gere credenciais locais, suba o Compose e rode o smoke. Em seguida, abra Swagger, crie o pedido canônico e consulte o resultado. Mostre testes e workflow no GitHub. A CI está configurada e foi executada; implantação em nuvem não é alegada sem ambiente, credenciais e orçamento. O material do desafio de origem permanece fora do repositório público.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README.md; docs/evidencias/setup-limpo.md; GitHub Actions do repositório; Desafio Técnico COE Leader, §4, p.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f74085bfe845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7558dac1bb42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798236a5494cb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77b564e26849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4b1fe284ed4f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803df3487446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8490BF-ADFF-4DD6-85C5-D6DA9226EE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B1D92F6-391C-4490-8F83-FC74088589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E9C86DF-67C6-4CCD-90FF-9556171C44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D521E7-6491-46C7-9E61-E01C3AD38C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944195E-0B71-4DD3-9171-9B1462FBBC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16072F-0CBB-4B69-BAB4-3EC05C150E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FE03BC-DED8-4998-B781-85A3FB5CE8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9A4F249-E9BD-47A3-8999-3ECC1D73984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45EE0C-F96D-4DB3-8956-BBAE1E36D2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5BEE2A-6E5B-47F0-8CD0-F6A7BCB733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bb71ecf7af4a3d" /><Relationship Type="http://schemas.openxmlformats.org/officeDocument/2006/relationships/slideLayout" Target="/ppt/slideLayouts/slideLayout1.xml" Id="R6fe42c7c2a114882" /><Relationship Type="http://schemas.openxmlformats.org/officeDocument/2006/relationships/slideLayout" Target="/ppt/slideLayouts/slideLayout2.xml" Id="Re7f5ae1e9a344f53" /><Relationship Type="http://schemas.openxmlformats.org/officeDocument/2006/relationships/slideLayout" Target="/ppt/slideLayouts/slideLayout3.xml" Id="R56c7ebc5d6264d2b" /><Relationship Type="http://schemas.openxmlformats.org/officeDocument/2006/relationships/slideLayout" Target="/ppt/slideLayouts/slideLayout4.xml" Id="R9043001c07f6466d" /><Relationship Type="http://schemas.openxmlformats.org/officeDocument/2006/relationships/slideLayout" Target="/ppt/slideLayouts/slideLayout5.xml" Id="R022983305b8c4344" /><Relationship Type="http://schemas.openxmlformats.org/officeDocument/2006/relationships/slideLayout" Target="/ppt/slideLayouts/slideLayout6.xml" Id="Rdea4ba2f2c524d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e42c7c2a114882"/>
    <p:sldLayoutId xmlns:r="http://schemas.openxmlformats.org/officeDocument/2006/relationships" id="2147483650" r:id="Re7f5ae1e9a344f53"/>
    <p:sldLayoutId xmlns:r="http://schemas.openxmlformats.org/officeDocument/2006/relationships" id="2147483651" r:id="R56c7ebc5d6264d2b"/>
    <p:sldLayoutId xmlns:r="http://schemas.openxmlformats.org/officeDocument/2006/relationships" id="2147483652" r:id="R9043001c07f6466d"/>
    <p:sldLayoutId xmlns:r="http://schemas.openxmlformats.org/officeDocument/2006/relationships" id="2147483653" r:id="R022983305b8c4344"/>
    <p:sldLayoutId xmlns:r="http://schemas.openxmlformats.org/officeDocument/2006/relationships" id="2147483654" r:id="Rdea4ba2f2c524d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20cab5ff7e4f4b" /><Relationship Type="http://schemas.openxmlformats.org/officeDocument/2006/relationships/notesSlide" Target="/ppt/notesSlides/notesSlide1.xml" Id="Ra04208f490ba4e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c75b58ff134491" /><Relationship Type="http://schemas.openxmlformats.org/officeDocument/2006/relationships/notesSlide" Target="/ppt/notesSlides/notesSlide2.xml" Id="Rc2745c5ba8a248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3636921c294a3a" /><Relationship Type="http://schemas.openxmlformats.org/officeDocument/2006/relationships/notesSlide" Target="/ppt/notesSlides/notesSlide3.xml" Id="Rf11aa6a057d248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7bd629d6914f6d" /><Relationship Type="http://schemas.openxmlformats.org/officeDocument/2006/relationships/notesSlide" Target="/ppt/notesSlides/notesSlide4.xml" Id="R8dde45dc3e524a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bdec54d6b44a4c" /><Relationship Type="http://schemas.openxmlformats.org/officeDocument/2006/relationships/notesSlide" Target="/ppt/notesSlides/notesSlide5.xml" Id="R8138387862ff44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305648e5874467" /><Relationship Type="http://schemas.openxmlformats.org/officeDocument/2006/relationships/notesSlide" Target="/ppt/notesSlides/notesSlide6.xml" Id="Ra3f88c90c41440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f1bc7af6a44fde" /><Relationship Type="http://schemas.openxmlformats.org/officeDocument/2006/relationships/notesSlide" Target="/ppt/notesSlides/notesSlide7.xml" Id="Rdbd4d873390047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6B632-53C2-4775-AC11-E7F232A3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76200" cy="430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913C1-6132-480C-AFB8-78A72D59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BEDBFF"/>
                </a:solidFill>
                <a:latin typeface="Arial"/>
                <a:ea typeface="Arial"/>
                <a:cs typeface="Arial"/>
              </a:rPr>
              <a:t>DESAFIO TÉCNICO · COE LEADER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A2CEE-F8CF-4F74-933C-06754064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38300"/>
            <a:ext cx="7524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Pedidos confiáveis,</a:t>
            </a:r>
          </a:p>
          <a:p xmlns:a="http://schemas.openxmlformats.org/drawingml/2006/main">
            <a:pPr>
              <a:defRPr sz="3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 preço do Catálogo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C411A-6E90-4A54-97B6-50CCED1C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052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  <a:lvl1pPr>
              <a:defRPr sz="1725" b="0" i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  <a:lvl2pPr>
              <a:defRPr sz="1725" b="0" i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2pPr>
            <a:lvl3pPr>
              <a:defRPr sz="1725" b="0" i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3pPr>
            <a:lvl4pPr>
              <a:defRPr sz="1725" b="0" i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4pPr>
            <a:lvl5pPr>
              <a:defRPr sz="1725" b="0" i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5pPr>
            <a:lvl6pPr>
              <a:defRPr sz="1725" b="0" i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6pPr>
            <a:lvl7pPr>
              <a:defRPr sz="1725" b="0" i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7pPr>
            <a:lvl8pPr>
              <a:defRPr sz="1725" b="0" i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8pPr>
            <a:lvl9pPr>
              <a:defRPr sz="1725" b="0" i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 i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E2E8F0"/>
                </a:solidFill>
                <a:latin typeface="Arial"/>
                <a:ea typeface="Arial"/>
                <a:cs typeface="Arial"/>
              </a:rPr>
              <a:t>Duas APIs independentes. Um pedido calculado e persistido com rastreabilidade.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7A3ED-E53B-47B6-A92D-8A58ED4F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66900"/>
            <a:ext cx="2381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44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61A37-DBD7-497B-8B0C-84D273AF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66925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serviços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D0459-403A-47DC-8A11-90E4523E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00350"/>
            <a:ext cx="2381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6CC99-A3A5-4544-9325-EFEC2001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00375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+ NoSQL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27F29-8CB9-467E-AE8F-A920573C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33800"/>
            <a:ext cx="2381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25762-88C5-4BB6-86D2-9184A473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33825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 + OpenAPI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5F1E1-098E-4804-A5F9-EE867F3F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4360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CAD5E2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CAD5E2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CAD5E2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CAD5E2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CAD5E2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CAD5E2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CAD5E2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CAD5E2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CAD5E2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CAD5E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CAD5E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AD5E2"/>
                </a:solidFill>
                <a:latin typeface="Arial"/>
                <a:ea typeface="Arial"/>
                <a:cs typeface="Arial"/>
              </a:rPr>
              <a:t>Apresentação breve · execução local e evidências no repositório</a:t>
            </a:r>
          </a:p>
        </p:txBody>
      </p:sp>
    </p:spTree>
    <p:extLst>
      <p:ext uri="{BB962C8B-B14F-4D97-AF65-F5344CB8AC3E}">
        <p14:creationId xmlns:p14="http://schemas.microsoft.com/office/powerpoint/2010/main" val="5137395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C9F6DA-7861-45E3-BF8C-D2CBF955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defPPr>
            <a:lvl1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1pPr>
            <a:lvl2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2pPr>
            <a:lvl3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3pPr>
            <a:lvl4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4pPr>
            <a:lvl5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5pPr>
            <a:lvl6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6pPr>
            <a:lvl7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7pPr>
            <a:lvl8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8pPr>
            <a:lvl9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20618"/>
                </a:solidFill>
                <a:latin typeface="Arial"/>
                <a:ea typeface="Arial"/>
                <a:cs typeface="Arial"/>
              </a:rPr>
              <a:t>Duas stacks representam duas fronteiras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05F88ED-E572-4BA5-895E-7EDF4282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A diversidade atende ao contexto da vaga; cada serviço continua com uma responsabilidade definida.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03A2D-8C2B-423D-9C45-517BACD2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4857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CE10B-2770-4761-BBED-59C94E08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447E6"/>
                </a:solidFill>
                <a:latin typeface="Arial"/>
                <a:ea typeface="Arial"/>
                <a:cs typeface="Arial"/>
              </a:rPr>
              <a:t>PEDIDOS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DA3EC-4837-4559-8DBA-0D66B458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defPPr>
            <a:lvl1pPr>
              <a:defRPr sz="180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1pPr>
            <a:lvl2pPr>
              <a:defRPr sz="180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2pPr>
            <a:lvl3pPr>
              <a:defRPr sz="180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3pPr>
            <a:lvl4pPr>
              <a:defRPr sz="180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4pPr>
            <a:lvl5pPr>
              <a:defRPr sz="180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5pPr>
            <a:lvl6pPr>
              <a:defRPr sz="180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6pPr>
            <a:lvl7pPr>
              <a:defRPr sz="180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7pPr>
            <a:lvl8pPr>
              <a:defRPr sz="180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8pPr>
            <a:lvl9pPr>
              <a:defRPr sz="180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20618"/>
                </a:solidFill>
                <a:latin typeface="Arial"/>
                <a:ea typeface="Arial"/>
                <a:cs typeface="Arial"/>
              </a:rPr>
              <a:t>TypeScript · Node.js 24 · NestJS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0359C-1778-4606-BE9A-A7A43711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• Valida cliente, itens e quantidades</a:t>
            </a:r>
          </a:p>
          <a:p xmlns:a="http://schemas.openxmlformats.org/drawingml/2006/main">
            <a: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• Consulta o preço no Catálogo em lote</a:t>
            </a:r>
          </a:p>
          <a:p xmlns:a="http://schemas.openxmlformats.org/drawingml/2006/main">
            <a: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• Calcula desconto em centavos inteiros</a:t>
            </a:r>
          </a:p>
          <a:p xmlns:a="http://schemas.openxmlformats.org/drawingml/2006/main">
            <a: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• Grava cabeçalho e itens no PostgreSQL</a:t>
            </a:r>
          </a:p>
          <a:p xmlns:a="http://schemas.openxmlformats.org/drawingml/2006/main">
            <a: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• Preserva valores e regra no pedido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D2D0E-ED55-4794-B6F1-5E5BBE01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09750"/>
            <a:ext cx="4857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2A0DC-531B-4EAF-9244-0C9D884C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57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7A55"/>
                </a:solidFill>
                <a:latin typeface="Arial"/>
                <a:ea typeface="Arial"/>
                <a:cs typeface="Arial"/>
              </a:rPr>
              <a:t>CATÁLOGO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84A84-2437-4AFC-BFA1-DC3728E6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574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defPPr>
            <a:lvl1pPr>
              <a:defRPr sz="180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1pPr>
            <a:lvl2pPr>
              <a:defRPr sz="180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2pPr>
            <a:lvl3pPr>
              <a:defRPr sz="180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3pPr>
            <a:lvl4pPr>
              <a:defRPr sz="180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4pPr>
            <a:lvl5pPr>
              <a:defRPr sz="180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5pPr>
            <a:lvl6pPr>
              <a:defRPr sz="180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6pPr>
            <a:lvl7pPr>
              <a:defRPr sz="180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7pPr>
            <a:lvl8pPr>
              <a:defRPr sz="180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8pPr>
            <a:lvl9pPr>
              <a:defRPr sz="180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20618"/>
                </a:solidFill>
                <a:latin typeface="Arial"/>
                <a:ea typeface="Arial"/>
                <a:cs typeface="Arial"/>
              </a:rPr>
              <a:t>C# · .NET 10 · ASP.NET 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8AE6F-898B-45D7-81C9-598302C9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4800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• É a fonte de produtos e preços atuais</a:t>
            </a:r>
          </a:p>
          <a:p xmlns:a="http://schemas.openxmlformats.org/drawingml/2006/main">
            <a: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• Lista produtos ativos e consulta por ID</a:t>
            </a:r>
          </a:p>
          <a:p xmlns:a="http://schemas.openxmlformats.org/drawingml/2006/main">
            <a: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• Busca até 100 IDs em uma operação MongoDB</a:t>
            </a:r>
          </a:p>
          <a:p xmlns:a="http://schemas.openxmlformats.org/drawingml/2006/main">
            <a: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• Mantém disponibilidade e versão do preço</a:t>
            </a:r>
          </a:p>
          <a:p xmlns:a="http://schemas.openxmlformats.org/drawingml/2006/main">
            <a:pPr>
              <a:defRPr sz="135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• Não compartilha banco com Pedidos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DE868-199A-403A-8F21-641B628C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108966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755388-1A4E-4E8F-8CFB-EB82A112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245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defPPr>
            <a:lvl1pPr>
              <a:defRPr sz="16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1pPr>
            <a:lvl2pPr>
              <a:defRPr sz="16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2pPr>
            <a:lvl3pPr>
              <a:defRPr sz="16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3pPr>
            <a:lvl4pPr>
              <a:defRPr sz="16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4pPr>
            <a:lvl5pPr>
              <a:defRPr sz="16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5pPr>
            <a:lvl6pPr>
              <a:defRPr sz="16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6pPr>
            <a:lvl7pPr>
              <a:defRPr sz="16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7pPr>
            <a:lvl8pPr>
              <a:defRPr sz="16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8pPr>
            <a:lvl9pPr>
              <a:defRPr sz="16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47E6"/>
                </a:solidFill>
                <a:latin typeface="Arial"/>
                <a:ea typeface="Arial"/>
                <a:cs typeface="Arial"/>
              </a:rPr>
              <a:t>Pedidos  →  REST/OpenAPI em lote  →  Catálogo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14D51-A554-4769-8EE9-EE10F2B8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105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105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105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105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105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105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105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105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105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Uma stack só reduziria custo operacional; as duas foram escolhidas para demonstrar experiência multi-stack sem criar um terceiro serviço.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45453-9FE8-44E9-8B4C-57E0D7F3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DESAFIO COE LEADER · PEDIDOS E CATÁLOGO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06C49-BEB8-42AA-8C2D-3B5E65D3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403397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FDBE1C-8061-4C2B-83CF-373C8BCB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defPPr>
            <a:lvl1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1pPr>
            <a:lvl2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2pPr>
            <a:lvl3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3pPr>
            <a:lvl4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4pPr>
            <a:lvl5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5pPr>
            <a:lvl6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6pPr>
            <a:lvl7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7pPr>
            <a:lvl8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8pPr>
            <a:lvl9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20618"/>
                </a:solidFill>
                <a:latin typeface="Arial"/>
                <a:ea typeface="Arial"/>
                <a:cs typeface="Arial"/>
              </a:rPr>
              <a:t>A criação valida, calcula e grava o pedido inteiro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D4BD2B9-13D1-4DD0-9F18-FEE2E0EE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Preço e disponibilidade vêm do fornecedor; a gravação SQL é atômica.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1AF54-F137-405D-972F-DA95DA53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24955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946CC-877B-4098-8CB4-EA9406FC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defPPr>
            <a:lvl1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1pPr>
            <a:lvl2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2pPr>
            <a:lvl3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3pPr>
            <a:lvl4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4pPr>
            <a:lvl5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5pPr>
            <a:lvl6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6pPr>
            <a:lvl7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7pPr>
            <a:lvl8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8pPr>
            <a:lvl9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47E6"/>
                </a:solidFill>
                <a:latin typeface="Arial"/>
                <a:ea typeface="Arial"/>
                <a:cs typeface="Arial"/>
              </a:rPr>
              <a:t>01 · Receber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C46C9-4076-4C62-B4FD-DF77922C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114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Cliente e 1–100 itens distintos. Preço e desconto não são aceitos no payload.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BDE16-D064-49A1-AB29-0F15A32C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6098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defPPr>
            <a:lvl1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1pPr>
            <a:lvl2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2pPr>
            <a:lvl3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3pPr>
            <a:lvl4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4pPr>
            <a:lvl5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5pPr>
            <a:lvl6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6pPr>
            <a:lvl7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7pPr>
            <a:lvl8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8pPr>
            <a:lvl9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447E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23ED1-4899-49FD-B5AF-F7FC91E3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66900"/>
            <a:ext cx="24955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3D70B-A38E-43E7-AC8F-95CA720B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955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defPPr>
            <a:lvl1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1pPr>
            <a:lvl2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2pPr>
            <a:lvl3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3pPr>
            <a:lvl4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4pPr>
            <a:lvl5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5pPr>
            <a:lvl6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6pPr>
            <a:lvl7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7pPr>
            <a:lvl8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8pPr>
            <a:lvl9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47E6"/>
                </a:solidFill>
                <a:latin typeface="Arial"/>
                <a:ea typeface="Arial"/>
                <a:cs typeface="Arial"/>
              </a:rPr>
              <a:t>02 · Consultar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7408E-9164-4040-AB65-F3F794BE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09850"/>
            <a:ext cx="2114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Uma chamada HTTP em lote. Produto ausente ou inativo impede a criação.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873F2-E6EC-491A-82B2-195919B3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6098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defPPr>
            <a:lvl1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1pPr>
            <a:lvl2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2pPr>
            <a:lvl3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3pPr>
            <a:lvl4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4pPr>
            <a:lvl5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5pPr>
            <a:lvl6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6pPr>
            <a:lvl7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7pPr>
            <a:lvl8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8pPr>
            <a:lvl9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447E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E605E-7C8D-4A79-ADFE-D61CE6CF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66900"/>
            <a:ext cx="24955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DB2649-CB8D-416B-A7C8-78F36BB4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defPPr>
            <a:lvl1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1pPr>
            <a:lvl2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2pPr>
            <a:lvl3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3pPr>
            <a:lvl4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4pPr>
            <a:lvl5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5pPr>
            <a:lvl6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6pPr>
            <a:lvl7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7pPr>
            <a:lvl8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8pPr>
            <a:lvl9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47E6"/>
                </a:solidFill>
                <a:latin typeface="Arial"/>
                <a:ea typeface="Arial"/>
                <a:cs typeface="Arial"/>
              </a:rPr>
              <a:t>03 · Calcular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A9A0F-4A21-4E35-ACEF-BF34FBD4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09850"/>
            <a:ext cx="2114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Subtotal, regra configurável e total em centavos; arredondamento explícito.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ED947-5DE6-4585-BF42-F7C60677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6098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defPPr>
            <a:lvl1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1pPr>
            <a:lvl2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2pPr>
            <a:lvl3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3pPr>
            <a:lvl4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4pPr>
            <a:lvl5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5pPr>
            <a:lvl6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6pPr>
            <a:lvl7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7pPr>
            <a:lvl8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8pPr>
            <a:lvl9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447E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422D6-8079-4E1A-B390-05C24C9E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66900"/>
            <a:ext cx="24955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9F525-4844-4DD4-B0AF-0145BF16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defPPr>
            <a:lvl1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1pPr>
            <a:lvl2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2pPr>
            <a:lvl3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3pPr>
            <a:lvl4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4pPr>
            <a:lvl5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5pPr>
            <a:lvl6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6pPr>
            <a:lvl7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7pPr>
            <a:lvl8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8pPr>
            <a:lvl9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47E6"/>
                </a:solidFill>
                <a:latin typeface="Arial"/>
                <a:ea typeface="Arial"/>
                <a:cs typeface="Arial"/>
              </a:rPr>
              <a:t>04 · Persistir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4831DB-45CA-49E9-B942-7E459741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9850"/>
            <a:ext cx="2114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Cabeçalho e itens entram na mesma transação PostgreSQL.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D60C8D-0AFF-46F8-89B1-F989563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966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7CBFC4-4606-47B3-AC85-7194851A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defPPr>
            <a:lvl1pPr>
              <a:defRPr sz="1125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1pPr>
            <a:lvl2pPr>
              <a:defRPr sz="1125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2pPr>
            <a:lvl3pPr>
              <a:defRPr sz="1125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3pPr>
            <a:lvl4pPr>
              <a:defRPr sz="1125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4pPr>
            <a:lvl5pPr>
              <a:defRPr sz="1125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5pPr>
            <a:lvl6pPr>
              <a:defRPr sz="1125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6pPr>
            <a:lvl7pPr>
              <a:defRPr sz="1125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7pPr>
            <a:lvl8pPr>
              <a:defRPr sz="1125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8pPr>
            <a:lvl9pPr>
              <a:defRPr sz="1125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EDBFF"/>
                </a:solidFill>
                <a:latin typeface="Arial"/>
                <a:ea typeface="Arial"/>
                <a:cs typeface="Arial"/>
              </a:rPr>
              <a:t>EXEMPLO CANÔNICO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8D8384-1BD4-48E3-86BE-556CE59E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× Teclado (R$ 200) + 1 × Mouse (R$ 100) = R$ 500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03CA09-FD94-4EAF-92B6-DE23A3E1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  <a:lvl1pPr>
              <a:defRPr sz="1500" b="0" i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  <a:lvl2pPr>
              <a:defRPr sz="1500" b="0" i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2pPr>
            <a:lvl3pPr>
              <a:defRPr sz="1500" b="0" i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3pPr>
            <a:lvl4pPr>
              <a:defRPr sz="1500" b="0" i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4pPr>
            <a:lvl5pPr>
              <a:defRPr sz="1500" b="0" i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5pPr>
            <a:lvl6pPr>
              <a:defRPr sz="1500" b="0" i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6pPr>
            <a:lvl7pPr>
              <a:defRPr sz="1500" b="0" i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7pPr>
            <a:lvl8pPr>
              <a:defRPr sz="1500" b="0" i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8pPr>
            <a:lvl9pPr>
              <a:defRPr sz="1500" b="0" i="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 i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E2E8F0"/>
                </a:solidFill>
                <a:latin typeface="Arial"/>
                <a:ea typeface="Arial"/>
                <a:cs typeface="Arial"/>
              </a:rPr>
              <a:t>Limiar R$ 500 · desconto 10% (R$ 50) · total R$ 450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4E0111-C4E9-4B12-8E1D-E74D6908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GET posterior lê o snapshot persistido e não chama o Catálogo nem recalcula o pedido.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9DBD2C-CD5E-41A6-9392-4D8F5D90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DESAFIO COE LEADER · PEDIDOS E CATÁLOGO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92DE66-5EB1-4B34-88E5-1B26019A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78691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78F97A-F4D5-454D-AD8F-33F450C8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defPPr>
            <a:lvl1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1pPr>
            <a:lvl2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2pPr>
            <a:lvl3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3pPr>
            <a:lvl4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4pPr>
            <a:lvl5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5pPr>
            <a:lvl6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6pPr>
            <a:lvl7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7pPr>
            <a:lvl8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8pPr>
            <a:lvl9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20618"/>
                </a:solidFill>
                <a:latin typeface="Arial"/>
                <a:ea typeface="Arial"/>
                <a:cs typeface="Arial"/>
              </a:rPr>
              <a:t>Seis rotas de negócio cobrem o fluxo completo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1DED359-DDFF-416B-A9BE-A30948BE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Swagger UI e contratos OpenAPI permitem testar sem uma interface de negócio separada.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FF3DD-BAA6-4D3D-ABC2-73EF0F6B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525780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42513-88E0-46A5-9857-D2BBB634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7167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defPPr>
            <a:lvl1pPr>
              <a:defRPr sz="142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1pPr>
            <a:lvl2pPr>
              <a:defRPr sz="142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2pPr>
            <a:lvl3pPr>
              <a:defRPr sz="142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3pPr>
            <a:lvl4pPr>
              <a:defRPr sz="142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4pPr>
            <a:lvl5pPr>
              <a:defRPr sz="142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5pPr>
            <a:lvl6pPr>
              <a:defRPr sz="142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6pPr>
            <a:lvl7pPr>
              <a:defRPr sz="142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7pPr>
            <a:lvl8pPr>
              <a:defRPr sz="142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8pPr>
            <a:lvl9pPr>
              <a:defRPr sz="142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7A55"/>
                </a:solidFill>
                <a:latin typeface="Arial"/>
                <a:ea typeface="Arial"/>
                <a:cs typeface="Arial"/>
              </a:rPr>
              <a:t>CATÁLOGO · 8080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184C2-3F0E-4441-B7B5-AC638547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20618"/>
                </a:solidFill>
                <a:latin typeface="Arial"/>
                <a:ea typeface="Arial"/>
                <a:cs typeface="Arial"/>
              </a:rPr>
              <a:t>GET  /api/v1/products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03BD9-A853-4586-B70B-8B820307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52725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Lista ativos com paginação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C1ECC-F26F-420B-B1B0-0240B38B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20618"/>
                </a:solidFill>
                <a:latin typeface="Arial"/>
                <a:ea typeface="Arial"/>
                <a:cs typeface="Arial"/>
              </a:rPr>
              <a:t>GET  /api/v1/products/{productId}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A0BFB-EB80-465C-82BC-DE36C046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Consulta o produto e preço atuais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0AB03-1C60-4871-972B-E6ADB73E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20618"/>
                </a:solidFill>
                <a:latin typeface="Arial"/>
                <a:ea typeface="Arial"/>
                <a:cs typeface="Arial"/>
              </a:rPr>
              <a:t>POST /api/v1/products/query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B7B6E-B97E-40D7-AE59-3D0FEA3E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00525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Busca até 100 IDs em lote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E491D-8E4F-4043-BCB4-D6862A57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defPPr>
            <a:lvl1pPr>
              <a:defRPr sz="112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1pPr>
            <a:lvl2pPr>
              <a:defRPr sz="112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2pPr>
            <a:lvl3pPr>
              <a:defRPr sz="112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3pPr>
            <a:lvl4pPr>
              <a:defRPr sz="112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4pPr>
            <a:lvl5pPr>
              <a:defRPr sz="112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5pPr>
            <a:lvl6pPr>
              <a:defRPr sz="112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6pPr>
            <a:lvl7pPr>
              <a:defRPr sz="112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7pPr>
            <a:lvl8pPr>
              <a:defRPr sz="112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8pPr>
            <a:lvl9pPr>
              <a:defRPr sz="112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7A55"/>
                </a:solidFill>
                <a:latin typeface="Arial"/>
                <a:ea typeface="Arial"/>
                <a:cs typeface="Arial"/>
              </a:rPr>
              <a:t>Swagger: http://localhost:8080/docs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DEDA7-B14B-496C-9E28-77516527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525780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BA1AE-4FB7-4AD7-80E4-2230BC12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7167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defPPr>
            <a:lvl1pPr>
              <a:defRPr sz="142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1pPr>
            <a:lvl2pPr>
              <a:defRPr sz="142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2pPr>
            <a:lvl3pPr>
              <a:defRPr sz="142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3pPr>
            <a:lvl4pPr>
              <a:defRPr sz="142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4pPr>
            <a:lvl5pPr>
              <a:defRPr sz="142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5pPr>
            <a:lvl6pPr>
              <a:defRPr sz="142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6pPr>
            <a:lvl7pPr>
              <a:defRPr sz="142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7pPr>
            <a:lvl8pPr>
              <a:defRPr sz="142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8pPr>
            <a:lvl9pPr>
              <a:defRPr sz="142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447E6"/>
                </a:solidFill>
                <a:latin typeface="Arial"/>
                <a:ea typeface="Arial"/>
                <a:cs typeface="Arial"/>
              </a:rPr>
              <a:t>PEDIDOS · 3000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095E8-98F0-4495-981C-9335EECA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20618"/>
                </a:solidFill>
                <a:latin typeface="Arial"/>
                <a:ea typeface="Arial"/>
                <a:cs typeface="Arial"/>
              </a:rPr>
              <a:t>POST /api/v1/orders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D4EA5-1993-4F49-B2B7-51ED5F23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52725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Valida preço, calcula e persiste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D010BE-9284-4AA7-899A-A1245C9F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813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20618"/>
                </a:solidFill>
                <a:latin typeface="Arial"/>
                <a:ea typeface="Arial"/>
                <a:cs typeface="Arial"/>
              </a:rPr>
              <a:t>GET  /api/v1/orders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B93F1-AF8D-4BC2-9A26-92D7FCDF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76625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Lista resumos paginados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8FE0FB-A0F1-4EDC-AFE1-242F3E1D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052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20618"/>
                </a:solidFill>
                <a:latin typeface="Arial"/>
                <a:ea typeface="Arial"/>
                <a:cs typeface="Arial"/>
              </a:rPr>
              <a:t>GET  /api/v1/orders/{orderId}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917C3-7DC1-4B2F-A891-B2F7B382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00525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Lê o snapshot sem depender do Catálogo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0DD752-7215-4765-AA13-6EAD6140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5300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defPPr>
            <a:lvl1pPr>
              <a:defRPr sz="112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1pPr>
            <a:lvl2pPr>
              <a:defRPr sz="112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2pPr>
            <a:lvl3pPr>
              <a:defRPr sz="112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3pPr>
            <a:lvl4pPr>
              <a:defRPr sz="112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4pPr>
            <a:lvl5pPr>
              <a:defRPr sz="112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5pPr>
            <a:lvl6pPr>
              <a:defRPr sz="112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6pPr>
            <a:lvl7pPr>
              <a:defRPr sz="112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7pPr>
            <a:lvl8pPr>
              <a:defRPr sz="112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8pPr>
            <a:lvl9pPr>
              <a:defRPr sz="112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447E6"/>
                </a:solidFill>
                <a:latin typeface="Arial"/>
                <a:ea typeface="Arial"/>
                <a:cs typeface="Arial"/>
              </a:rPr>
              <a:t>Swagger: http://localhost:3000/docs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C4F950-A7B3-4D1C-92F1-43D797E0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97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defPPr>
            <a:lvl1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1pPr>
            <a:lvl2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2pPr>
            <a:lvl3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3pPr>
            <a:lvl4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4pPr>
            <a:lvl5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5pPr>
            <a:lvl6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6pPr>
            <a:lvl7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7pPr>
            <a:lvl8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8pPr>
            <a:lvl9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Os dois serviços também expõem /health/live e /health/ready. Os contratos completos estão em contracts/.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B86769-70A1-437F-B536-4A8BC06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DESAFIO COE LEADER · PEDIDOS E CATÁLOGO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EA8D72-C7E1-429D-90BE-80DCB21A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440603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6B3367-7A40-463F-8937-41AD7A7C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defPPr>
            <a:lvl1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1pPr>
            <a:lvl2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2pPr>
            <a:lvl3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3pPr>
            <a:lvl4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4pPr>
            <a:lvl5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5pPr>
            <a:lvl6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6pPr>
            <a:lvl7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7pPr>
            <a:lvl8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8pPr>
            <a:lvl9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20618"/>
                </a:solidFill>
                <a:latin typeface="Arial"/>
                <a:ea typeface="Arial"/>
                <a:cs typeface="Arial"/>
              </a:rPr>
              <a:t>As regras críticas têm testes e evidências reproduzíveis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DB9D655-6F8E-4033-A579-F5E2D14F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Validação local, contrato real e pipeline remoto cobrem as duas stacks.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22A1B-91FE-4116-9982-E068C483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52578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2DEE2-FDCF-4386-9FDB-0E6B5027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447E6"/>
                </a:solidFill>
                <a:latin typeface="Arial"/>
                <a:ea typeface="Arial"/>
                <a:cs typeface="Arial"/>
              </a:rPr>
              <a:t>PEDIDOS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AFB0F-5717-4669-B272-AF9D794D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defPPr>
            <a:lvl1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1pPr>
            <a:lvl2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2pPr>
            <a:lvl3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3pPr>
            <a:lvl4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4pPr>
            <a:lvl5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5pPr>
            <a:lvl6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6pPr>
            <a:lvl7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7pPr>
            <a:lvl8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8pPr>
            <a:lvl9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Build, typecheck, lint e testes HTTP/domínio.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Integração PostgreSQL real cobre transação, rollback e lock timeout.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F6D18-791F-4B8D-AB5D-D749A71F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2578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B62AE-8770-4C8C-8FE9-063C603B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447E6"/>
                </a:solidFill>
                <a:latin typeface="Arial"/>
                <a:ea typeface="Arial"/>
                <a:cs typeface="Arial"/>
              </a:rPr>
              <a:t>CATÁLOGO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E7425-3B66-4B12-BE54-7E688B45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6220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defPPr>
            <a:lvl1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1pPr>
            <a:lvl2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2pPr>
            <a:lvl3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3pPr>
            <a:lvl4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4pPr>
            <a:lvl5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5pPr>
            <a:lvl6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6pPr>
            <a:lvl7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7pPr>
            <a:lvl8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8pPr>
            <a:lvl9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Build .NET, verificação de formato e testes da API/configuração.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Mongo usa busca em lote e índices conferidos por profiler/explain.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6F8F9-405A-47BA-BE37-9F894911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52578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EA097-A4EF-40E3-8B9E-24E94F59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447E6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DF5BF-795E-4682-A2AA-7391EAA7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defPPr>
            <a:lvl1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1pPr>
            <a:lvl2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2pPr>
            <a:lvl3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3pPr>
            <a:lvl4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4pPr>
            <a:lvl5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5pPr>
            <a:lvl6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6pPr>
            <a:lvl7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7pPr>
            <a:lvl8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8pPr>
            <a:lvl9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Smoke chama os dois serviços e persiste o pedido canônico.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Respostas runtime são validadas contra schemas OpenAPI.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DF4F36-0D13-41F5-B7C0-8F3E93FA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52578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5D9420-B69E-4FE0-AE11-55B39E1E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7A55"/>
                </a:solidFill>
                <a:latin typeface="Arial"/>
                <a:ea typeface="Arial"/>
                <a:cs typeface="Arial"/>
              </a:rPr>
              <a:t>CI NO GITHUB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2C14A-BA5E-420D-8050-9D805CE0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0530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defPPr>
            <a:lvl1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1pPr>
            <a:lvl2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2pPr>
            <a:lvl3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3pPr>
            <a:lvl4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4pPr>
            <a:lvl5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5pPr>
            <a:lvl6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6pPr>
            <a:lvl7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7pPr>
            <a:lvl8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8pPr>
            <a:lvl9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Workflow executa Node, .NET, docs, contratos, Compose, integração e smoke.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Pull requests e promoção só devem seguir com checks verdes.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71243-5E0A-4D86-A0F7-D73AF73B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BB4D00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BB4D00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BB4D00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BB4D00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BB4D00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BB4D00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BB4D00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BB4D00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BB4D00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BB4D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BB4D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B4D00"/>
                </a:solidFill>
                <a:latin typeface="Arial"/>
                <a:ea typeface="Arial"/>
                <a:cs typeface="Arial"/>
              </a:rPr>
              <a:t>Falha do Catálogo ou produto inativo não grava pedido parcial; resultado ambíguo de COMMIT não é repetido automaticamente.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CC3276-FE6E-4AEB-ACEF-18EB1CDF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DESAFIO COE LEADER · PEDIDOS E CATÁLOGO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9906E-4B43-4519-A38B-303FDB05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111328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33EAB9-102B-421E-A0B4-7ED3F39B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defPPr>
            <a:lvl1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1pPr>
            <a:lvl2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2pPr>
            <a:lvl3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3pPr>
            <a:lvl4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4pPr>
            <a:lvl5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5pPr>
            <a:lvl6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6pPr>
            <a:lvl7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7pPr>
            <a:lvl8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8pPr>
            <a:lvl9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20618"/>
                </a:solidFill>
                <a:latin typeface="Arial"/>
                <a:ea typeface="Arial"/>
                <a:cs typeface="Arial"/>
              </a:rPr>
              <a:t>Liderança técnica também faz parte da entrega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D50CC88-EC9C-4AF0-956D-54BCAE78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IA e SDD, governança, dimensionamento e comunicação de limites.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114A5-08C3-41BE-8E10-8FF45FF9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35052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F0730-9D87-45A0-960F-B35C653A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defPPr>
            <a:lvl1pPr>
              <a:defRPr sz="13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1pPr>
            <a:lvl2pPr>
              <a:defRPr sz="13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2pPr>
            <a:lvl3pPr>
              <a:defRPr sz="13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3pPr>
            <a:lvl4pPr>
              <a:defRPr sz="13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4pPr>
            <a:lvl5pPr>
              <a:defRPr sz="13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5pPr>
            <a:lvl6pPr>
              <a:defRPr sz="13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6pPr>
            <a:lvl7pPr>
              <a:defRPr sz="13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7pPr>
            <a:lvl8pPr>
              <a:defRPr sz="13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8pPr>
            <a:lvl9pPr>
              <a:defRPr sz="13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47E6"/>
                </a:solidFill>
                <a:latin typeface="Arial"/>
                <a:ea typeface="Arial"/>
                <a:cs typeface="Arial"/>
              </a:rPr>
              <a:t>IA + SDD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B4550-1B0D-4C04-896E-9E51E96D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3048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Requisitos → specs → implementação → testes → revisão.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Revisão de mensagens: quatro sugestões aceitas e testadas; uma proposta não determinística foi rejeitada.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4B4CA-92DC-4566-8638-F28BD698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24050"/>
            <a:ext cx="35052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43501-9640-44D6-8AA8-438E08AB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717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defPPr>
            <a:lvl1pPr>
              <a:defRPr sz="1350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1pPr>
            <a:lvl2pPr>
              <a:defRPr sz="1350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2pPr>
            <a:lvl3pPr>
              <a:defRPr sz="1350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3pPr>
            <a:lvl4pPr>
              <a:defRPr sz="1350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4pPr>
            <a:lvl5pPr>
              <a:defRPr sz="1350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5pPr>
            <a:lvl6pPr>
              <a:defRPr sz="1350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6pPr>
            <a:lvl7pPr>
              <a:defRPr sz="1350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7pPr>
            <a:lvl8pPr>
              <a:defRPr sz="1350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8pPr>
            <a:lvl9pPr>
              <a:defRPr sz="1350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007A5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7A55"/>
                </a:solidFill>
                <a:latin typeface="Arial"/>
                <a:ea typeface="Arial"/>
                <a:cs typeface="Arial"/>
              </a:rPr>
              <a:t>GOVERNANÇA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086EF-DDDC-47F2-8719-DB59B1ED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05100"/>
            <a:ext cx="3048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Guia multi-stack de code review com duas páginas.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Bloqueadores objetivos para contrato, SQL, exposição de dados, transação, N+1 e testes.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9CA52-EFD1-4FD9-A89B-1933931C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24050"/>
            <a:ext cx="35052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90CF7-391B-4954-9F2B-E7AB8335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717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BB4D00"/>
                </a:solidFill>
                <a:latin typeface="Arial"/>
                <a:ea typeface="Arial"/>
                <a:cs typeface="Arial"/>
              </a:defRPr>
            </a:defPPr>
            <a:lvl1pPr>
              <a:defRPr sz="1350" b="1" i="0">
                <a:solidFill>
                  <a:srgbClr val="BB4D00"/>
                </a:solidFill>
                <a:latin typeface="Arial"/>
                <a:ea typeface="Arial"/>
                <a:cs typeface="Arial"/>
              </a:defRPr>
            </a:lvl1pPr>
            <a:lvl2pPr>
              <a:defRPr sz="1350" b="1" i="0">
                <a:solidFill>
                  <a:srgbClr val="BB4D00"/>
                </a:solidFill>
                <a:latin typeface="Arial"/>
                <a:ea typeface="Arial"/>
                <a:cs typeface="Arial"/>
              </a:defRPr>
            </a:lvl2pPr>
            <a:lvl3pPr>
              <a:defRPr sz="1350" b="1" i="0">
                <a:solidFill>
                  <a:srgbClr val="BB4D00"/>
                </a:solidFill>
                <a:latin typeface="Arial"/>
                <a:ea typeface="Arial"/>
                <a:cs typeface="Arial"/>
              </a:defRPr>
            </a:lvl3pPr>
            <a:lvl4pPr>
              <a:defRPr sz="1350" b="1" i="0">
                <a:solidFill>
                  <a:srgbClr val="BB4D00"/>
                </a:solidFill>
                <a:latin typeface="Arial"/>
                <a:ea typeface="Arial"/>
                <a:cs typeface="Arial"/>
              </a:defRPr>
            </a:lvl4pPr>
            <a:lvl5pPr>
              <a:defRPr sz="1350" b="1" i="0">
                <a:solidFill>
                  <a:srgbClr val="BB4D00"/>
                </a:solidFill>
                <a:latin typeface="Arial"/>
                <a:ea typeface="Arial"/>
                <a:cs typeface="Arial"/>
              </a:defRPr>
            </a:lvl5pPr>
            <a:lvl6pPr>
              <a:defRPr sz="1350" b="1" i="0">
                <a:solidFill>
                  <a:srgbClr val="BB4D00"/>
                </a:solidFill>
                <a:latin typeface="Arial"/>
                <a:ea typeface="Arial"/>
                <a:cs typeface="Arial"/>
              </a:defRPr>
            </a:lvl6pPr>
            <a:lvl7pPr>
              <a:defRPr sz="1350" b="1" i="0">
                <a:solidFill>
                  <a:srgbClr val="BB4D00"/>
                </a:solidFill>
                <a:latin typeface="Arial"/>
                <a:ea typeface="Arial"/>
                <a:cs typeface="Arial"/>
              </a:defRPr>
            </a:lvl7pPr>
            <a:lvl8pPr>
              <a:defRPr sz="1350" b="1" i="0">
                <a:solidFill>
                  <a:srgbClr val="BB4D00"/>
                </a:solidFill>
                <a:latin typeface="Arial"/>
                <a:ea typeface="Arial"/>
                <a:cs typeface="Arial"/>
              </a:defRPr>
            </a:lvl8pPr>
            <a:lvl9pPr>
              <a:defRPr sz="1350" b="1" i="0">
                <a:solidFill>
                  <a:srgbClr val="BB4D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BB4D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B4D00"/>
                </a:solidFill>
                <a:latin typeface="Arial"/>
                <a:ea typeface="Arial"/>
                <a:cs typeface="Arial"/>
              </a:rPr>
              <a:t>DIMENSIONAMENTO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5C4C9-AE94-43E2-9C43-958F9FEB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05100"/>
            <a:ext cx="3048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Cenário de três semanas, um sênior e um pleno.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240 h de capacidade: 204 h de base e 36 h de reserva; riscos e cortes explícitos.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D1BF4-A68A-467F-BFE1-4AA8D3FD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8966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D43A3-A755-4F75-9A77-59B68A31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768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Escopo local demonstrável · sem autenticação, pagamentos, estoque, frontend de negócio ou deploy cloud.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3B4B85-F76B-420B-8EFC-C4A3A201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DESAFIO COE LEADER · PEDIDOS E CATÁLOGO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32F271-82D3-4140-83A4-B195C4FF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765011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9AA159-3971-43EA-B99E-8B8FE2D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defPPr>
            <a:lvl1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1pPr>
            <a:lvl2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2pPr>
            <a:lvl3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3pPr>
            <a:lvl4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4pPr>
            <a:lvl5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5pPr>
            <a:lvl6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6pPr>
            <a:lvl7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7pPr>
            <a:lvl8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8pPr>
            <a:lvl9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 i="0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20618"/>
                </a:solidFill>
                <a:latin typeface="Arial"/>
                <a:ea typeface="Arial"/>
                <a:cs typeface="Arial"/>
              </a:rPr>
              <a:t>A demonstração local pode ser reproduzida passo a passo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A0D0329-1896-44F5-B1EE-99B62703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O README reúne comandos, dados sintéticos, endpoints e testes de cada projeto.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04AE9-758E-4403-829D-016147F2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6572250" cy="35433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551C9-466D-4D36-99A8-2BCC4A5B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defPPr>
            <a:lvl1pPr>
              <a:defRPr sz="1350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1pPr>
            <a:lvl2pPr>
              <a:defRPr sz="1350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2pPr>
            <a:lvl3pPr>
              <a:defRPr sz="1350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3pPr>
            <a:lvl4pPr>
              <a:defRPr sz="1350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4pPr>
            <a:lvl5pPr>
              <a:defRPr sz="1350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5pPr>
            <a:lvl6pPr>
              <a:defRPr sz="1350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6pPr>
            <a:lvl7pPr>
              <a:defRPr sz="1350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7pPr>
            <a:lvl8pPr>
              <a:defRPr sz="1350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8pPr>
            <a:lvl9pPr>
              <a:defRPr sz="1350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BEDB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EDBFF"/>
                </a:solidFill>
                <a:latin typeface="Arial"/>
                <a:ea typeface="Arial"/>
                <a:cs typeface="Arial"/>
              </a:rPr>
              <a:t>FLUXO DE DEMONSTRAÇÃO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88032-5547-461F-A825-C574BCF2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59055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  Gerar credenciais locais</a:t>
            </a:r>
          </a:p>
          <a:p xmlns:a="http://schemas.openxmlformats.org/drawingml/2006/main">
            <a:pPr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infra/setup-local.ps1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 Subir bancos, migrations e APIs</a:t>
            </a:r>
          </a:p>
          <a:p xmlns:a="http://schemas.openxmlformats.org/drawingml/2006/main">
            <a:pPr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Docker Compose · aguardar health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  Exercitar os endpoints</a:t>
            </a:r>
          </a:p>
          <a:p xmlns:a="http://schemas.openxmlformats.org/drawingml/2006/main">
            <a:pPr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smoke + Swagger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3BEE3-00FB-49E4-8C2E-4E01DEC9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52600"/>
            <a:ext cx="3905250" cy="35433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E807A-EBE4-4329-91BF-89C4BEF2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193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defPPr>
            <a:lvl1pPr>
              <a:defRPr sz="16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1pPr>
            <a:lvl2pPr>
              <a:defRPr sz="16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2pPr>
            <a:lvl3pPr>
              <a:defRPr sz="16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3pPr>
            <a:lvl4pPr>
              <a:defRPr sz="16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4pPr>
            <a:lvl5pPr>
              <a:defRPr sz="16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5pPr>
            <a:lvl6pPr>
              <a:defRPr sz="16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6pPr>
            <a:lvl7pPr>
              <a:defRPr sz="16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7pPr>
            <a:lvl8pPr>
              <a:defRPr sz="16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8pPr>
            <a:lvl9pPr>
              <a:defRPr sz="16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47E6"/>
                </a:solidFill>
                <a:latin typeface="Arial"/>
                <a:ea typeface="Arial"/>
                <a:cs typeface="Arial"/>
              </a:rPr>
              <a:t>Depois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567CC-BB6D-41DC-B33D-48C42C0B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32766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1  Abrir Swagger de Pedidos e Catálogo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2  Criar e consultar um pedido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3  Rodar testes de cada projeto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1D29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93D"/>
                </a:solidFill>
                <a:latin typeface="Arial"/>
                <a:ea typeface="Arial"/>
                <a:cs typeface="Arial"/>
              </a:rPr>
              <a:t>4  Conferir CI e evidências no GitHub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5B2D4-78B5-4273-B250-2FB1A77D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89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1447E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447E6"/>
                </a:solidFill>
                <a:latin typeface="Arial"/>
                <a:ea typeface="Arial"/>
                <a:cs typeface="Arial"/>
              </a:rPr>
              <a:t>Repositório: github.com/EricoCalasans/DesafioStefanini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E3984-4579-4884-9E74-353BF353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Cloud real depende de destino, acesso e orçamento; o README separa o que foi testado do que está condicionado.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54171-FB1E-403A-9E03-9CE63188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DESAFIO COE LEADER · PEDIDOS E CATÁLOGO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2DFC3-54DE-47D4-B9BB-840CC05E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45556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97986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2026-10-23T02:49:35.9640000Z</dcterms:created>
  <dcterms:modified xsi:type="dcterms:W3CDTF">2026-10-23T02:49:35.9640000Z</dcterms:modified>
</coreProperties>
</file>